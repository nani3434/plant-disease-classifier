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0F-4EC7-9180-4ADC959E18AB}"/>
              </c:ext>
            </c:extLst>
          </c:dPt>
          <c:dPt>
            <c:idx val="1"/>
            <c:invertIfNegative val="0"/>
            <c:bubble3D val="0"/>
            <c:spPr>
              <a:solidFill>
                <a:srgbClr val="7209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0F-4EC7-9180-4ADC959E18AB}"/>
              </c:ext>
            </c:extLst>
          </c:dPt>
          <c:dPt>
            <c:idx val="2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0F-4EC7-9180-4ADC959E18AB}"/>
              </c:ext>
            </c:extLst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0F-4EC7-9180-4ADC959E18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Config 1:
Baseline</c:v>
                </c:pt>
                <c:pt idx="1">
                  <c:v>Config 2:
Augmented</c:v>
                </c:pt>
                <c:pt idx="2">
                  <c:v>Config 3:
Synthesized</c:v>
                </c:pt>
                <c:pt idx="3">
                  <c:v>Config 4:
Full Pipeline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73.33</c:v>
                </c:pt>
                <c:pt idx="1">
                  <c:v>73.33</c:v>
                </c:pt>
                <c:pt idx="2">
                  <c:v>84.44</c:v>
                </c:pt>
                <c:pt idx="3">
                  <c:v>75.56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0F-4EC7-9180-4ADC959E1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45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Leaf Disease Classifier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Transfer Learning to Detect Tomato Leaf Disease from Photographs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786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MSML640 — Machine Learning in Computer Vision, Spring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Haran 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(pretrained on ImageNet, fine-tuned for leaf disease detection)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— 300 tomato leaf images across 3 classes (Healthy, Early Blight, Late Blight)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84.44% test accuracy — Config 3 (Synthesized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github.com/Nani3434/Plant-Disease-Classifier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accounts for 20–40% of global food production losses annually (FAO, 2021), making it one of the leading threats to food security worldwide.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is one of the most widely cultivated vegetables globally and is highly susceptible to fungal and bacterial leaf diseases that spread rapidly if undetected.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visual inspection by experienced agronomists, which is: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— most smallholder farmers cannot afford expert consultations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diagnosis can take days to weeks in remote or rural areas</a:t>
            </a:r>
            <a:endParaRPr lang="en-US" sz="13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— subjective assessments vary significantly between experts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and accurate detection is critical to prevent crop loss, target pesticide use, and reduce environmental impact.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automated image classification system that identifies tomato leaf disease from a single photograph — with the potential for future mobile deployment in the field.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544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fine-tuned pretrained model achieve reliable disease classification on only 300 images — and how does augmentation vs. synthetic data generation affect generalization?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photograph of a tomato leaf as input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the image: resizes to 224×224, normalizes using ImageNet mean and standard deviation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it through a fine-tuned EfficientNet-B0 model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predicted class with confidence score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classes: Healthy, Early Blight, Late Blight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74980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078992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photograph a leaf and receive an instant disease diagnosis without needing an expert on-site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runs on standard hardware — suitable for future mobile deployment in rural areas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target pesticide application — reducing both cost and environmental damage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food security initiatives in developing regions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 Classes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21024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Appearance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green, no spots or lesions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 disease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brown concentric ring lesions on leaf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Alternaria solani (fungus)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 water-soaked patches, brown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Phytophthora infestans (oomycete)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EfficientNet-B0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EfficientNet-B0?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160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~5.3M parameters — lightweight enough to fine-tune on just 300 training images without severe overfitting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top-1 accuracy on ImageNet — highest accuracy-to-compute ratio among standard backbones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scaling: optimally scales width, depth, and resolution simultaneously for efficient performance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~6ms inference per image on CPU — supports future mobile deployment for farmers in the field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backbone layers frozen; only the final classification head is retrained for the 3-class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74980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Explained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078992"/>
            <a:ext cx="4160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was pretrained on ImageNet — 1.2 million images across 1000 object categories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pretraining, it learned universal visual features: edges, textures, shapes, color gradients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replaced only the final fully-connected layer to output 3 class probabilities (Healthy, Early Blight, Late Blight)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 — only the new classifier head (Dropout + Linear) is updated during fine-tuning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is highly effective with very small datasets because all prior visual knowledge is reused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Why Not Others?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13566"/>
              </p:ext>
            </p:extLst>
          </p:nvPr>
        </p:nvGraphicFramePr>
        <p:xfrm>
          <a:off x="365760" y="3666744"/>
          <a:ext cx="8412480" cy="14173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too many parameters for small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lower accuracy, not worth the 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~50ms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far too large, extremely slow on 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PlantVillage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PlantVillage Dataset — publicly available on Kaggle (emmarex/plantdisease)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in-the-wild photographs taken under natural lighting conditions, not controlled studio images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images selected per class using a fixed random seed (seed=42) to ensure reproducibility across runs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 to 224×224 pixels and normalized using ImageNet statistics: mean [0.485, 0.456, 0.406], std [0.229, 0.224, 0.225]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90088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(70%)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(15%)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267004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17720" y="26700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Properties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17720" y="2990088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perfectly balanced — 100 images per class, zero class imbalance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leakage: train/val/test splits have strictly zero overlap, enforced by selection script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Configs 3 and 4: 1,050 additional synthetic images generated (350 per class × 3 classes)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images created from training set using aggressive image transformations — no new real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Configurations &amp;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Training Configurations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919214"/>
              </p:ext>
            </p:extLst>
          </p:nvPr>
        </p:nvGraphicFramePr>
        <p:xfrm>
          <a:off x="365760" y="1069848"/>
          <a:ext cx="8412480" cy="150876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Train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300 images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300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Flip, rotate, crop, color jitter,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+ 1,050 synthetic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1,260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+ 1,050 synthetic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Flip, rotate, crop, color jitter,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743200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 — Configs 2 &amp; 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072384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244×244, then RandomCrop to 224×224 — simulates camera zoom variation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RandomHorizontalFlip (p=0.5) and RandomVerticalFlip (p=0.2)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RandomRotation ±30° — simulates different leaf orientations and camera angles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ColorJitter: brightness ±0.3, contrast ±0.3, saturation ±0.3, hue ±0.1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RandomErasing (p=0.2, scale 2–10%) — simulates partial leaf occlusion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2743200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17720" y="27432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— Configs 3 &amp; 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17720" y="3072384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original training images × 5 synthetic variants = 350 images per class (1,050 total)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 randomly applies: extreme color jitter, Gaussian blur (radius 0.5–3.0), random rotation ±45°, Gaussian noise (σ up to 25), random rectangular erasing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expand the training distribution to cover realistic real-world image variation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(seed=42) ensures all synthetic images are fully reproducible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Training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Table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69848"/>
          <a:ext cx="3657600" cy="3718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StepLR — step=5, γ=0.5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(classifier)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(CUDA if available)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head only — backbone frozen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206240" y="749808"/>
            <a:ext cx="45720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0624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for Parameter Choices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069848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(1e-4):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learning rate is critical when fine-tuning pretrained weights. Higher rates would disrupt the pretrained ImageNet features and significantly degrade classification performance.
</a:t>
            </a: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Scheduler: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learning rate every 5 epochs. Prevents overshooting the loss minimum in later training stages when the model needs only fine adjustments.
</a:t>
            </a: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0.3: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the classifier head. Provides regularization to reduce overfitting on the small 210-image training set.
</a:t>
            </a: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16: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CPU memory while providing stable gradient estimates for this dataset size.
</a:t>
            </a: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= 15: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confirm convergence by epoch 12–13 across all configurations — 15 epochs is sufficient without overfitting.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Test Accuracy Across All Configurations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49808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749808"/>
            <a:ext cx="32004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749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Summary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69848"/>
          <a:ext cx="3200400" cy="15971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Augmented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Synthesized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578608"/>
            <a:ext cx="32004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57784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577840" y="2898648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 and Config 2 scored identically — standard augmentation provided zero measurable benefit on this dataset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 is the clear winner — a +11.11% gain purely from adding 1,050 synthetic training images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4 underperformed Config 3 — applying augmentation on top of synthetic data introduced excessive regularization and caused underfitting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across all 4 configs showed stable, consistent convergence with no divergence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 — Baseline vs Best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 — Baseline (73.33%)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69848"/>
          <a:ext cx="4114800" cy="157886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749808"/>
            <a:ext cx="41148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 — Synthesized (84.44%) ★ Best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69848"/>
          <a:ext cx="4114800" cy="157886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Config 3 (Best Model)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misclassified as Late Blight — similar green-brown tones in early infection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score — concentric ring pattern is visually unique and distinct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misclassified as Healthy — early-stage infection overlaps with healthy appearance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overall performance given only 300 training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 — Config 3 Under Distribution Shift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(Config 3) was evaluated on the same 45 test images after applying each of four perturbations independently — using PIL, no manual editing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which types of real-world image degradation most affect model performance, and understand where the model is brittle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Results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13432"/>
          <a:ext cx="7040880" cy="1844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Introduced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test images, no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np.random.normal() added to pixel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μ=0, σ=40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GaussianBlur on each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rectangle over centre of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Brightness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ImageEnhance.Brightness()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factor=0.3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365760" y="4187952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41879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45079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caused the largest drop (−51.11%) — the model depends heavily on sharp leaf texture features. Blur destroys the ring patterns and lesion edges needed for classification.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and brightness had only a mild effect (−11.11% each) — the model can still classify reasonably from partial or dim images, showing robustness to common real-world shooting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Why Does the Model Fail?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Summary — Config 3 Best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 correctly classified 38 out of 45 test images — 7 total misclassifications (15.6% error rate)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Breakdown: 5 Healthy images predicted as Late Blight; 2 Late Blight images predicted as Healthy — no Early Blight errors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 achieved 100% recall across all 4 configurations — its distinct concentric ring pattern is the most visually unique of the three classes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Misclassification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32888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Visual similarity — Healthy vs Late Blight: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infection stages, Late Blight patches are small and can closely resemble natural browning in healthy leaves. This ambiguity exists even for human experts.
</a:t>
            </a: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size limitation: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70 training images per class, the model may not have seen enough variation to reliably learn the decision boundary between Healthy and Late Blight.
</a:t>
            </a: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Image quality variation: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test images had inconsistent lighting or only partially showed the leaf, reducing the model's ability to identify disease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21284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2128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Pathways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532888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Increase dataset size: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from 100 to 500+ images per class would provide many more examples of the Healthy/Late Blight boundary region and improve discrimination.
</a:t>
            </a: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Unfreeze backbone layers: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the deeper EfficientNet-B0 layers (not just the classifier head) may help the model learn leaf-specific texture features more precisely.
</a:t>
            </a: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Include blur in training augmentation:
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motion blur augmentation during training (not just robustness testing) would likely significantly reduce the 51% accuracy drop seen under blur.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Findings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841248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Synthetic data was the most impactful strategy (+11.11%): Adding 1,050 synthetic images expanded the training distribution and helped the model generalize significantly better to unseen test data.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Augmentation alone had zero effect: Config 2 matched Config 1 exactly at 73.33%. The original dataset already contained enough natural variation that standard augmentations were redundant.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Over-regularization hurts: Config 4 (synthesis + augmentation) scored lower than Config 3 alone. Excessive transformations made the training images too different from real test images, causing underfitting.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Early Blight was perfectly classified (100% recall): Its concentric ring pattern is visually distinct and unique — the model identifies it reliably across all configurations.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— Motion blur is the model's critical weakness: Accuracy dropped from 84.44% to 33.33% under blur. The model depends heavily on sharp texture features that blur destroys.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 — Transfer learning works on very small datasets: Using a pretrained backbone, we achieved 84.44% accuracy on just 300 training images — demonstrating the power of fine-tuning pretrained models.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trained models with saved weights for all configs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Loss/accuracy curves and confusion matrices for all 4 configs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 under 4 perturbations with full analysis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with misclassified image visualization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3931920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39319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github.com/Nani3434/Plant-Disease-Classifier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prepare_dataset.py, generate_synth.py, train.py, analysis.py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results, plots, proposal, and slides included in repository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complete setup instructions and AI usage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2391</Words>
  <Application>Microsoft Office PowerPoint</Application>
  <PresentationFormat>On-screen Show (16:9)</PresentationFormat>
  <Paragraphs>357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Leaf Disease Classifier - MSML640</dc:title>
  <dc:subject>PptxGenJS Presentation</dc:subject>
  <dc:creator>Hari Haran Manda</dc:creator>
  <cp:lastModifiedBy>Hari Manda</cp:lastModifiedBy>
  <cp:revision>3</cp:revision>
  <dcterms:created xsi:type="dcterms:W3CDTF">2026-05-04T23:35:59Z</dcterms:created>
  <dcterms:modified xsi:type="dcterms:W3CDTF">2026-05-04T23:58:53Z</dcterms:modified>
</cp:coreProperties>
</file>